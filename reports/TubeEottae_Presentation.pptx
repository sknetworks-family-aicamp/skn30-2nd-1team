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640080"/>
            <a:ext cx="2560320" cy="292608"/>
          </a:xfrm>
          <a:prstGeom prst="rect">
            <a:avLst/>
          </a:prstGeom>
          <a:solidFill>
            <a:srgbClr val="3B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675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SKN30 · 2차 단위 프로젝트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51560"/>
            <a:ext cx="219456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317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튜브어때 (TubeEottae)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1868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5B4FC"/>
                </a:solidFill>
                <a:latin typeface="맑은 고딕"/>
              </a:rPr>
              <a:t>YouTube 크리에이터 분석을 통한 광고효율 및 지속가능성 추천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7823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17CD0"/>
                </a:solidFill>
                <a:latin typeface="맑은 고딕"/>
              </a:rPr>
              <a:t>팀 너놀자 · 2026.05.15 ~ 2026.05.22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팀 소개 · 너놀자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"같이 놀듯이, 데이터로 답을 찾는 5인 팀"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26592"/>
            <a:ext cx="1623974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26592"/>
            <a:ext cx="1623974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36320"/>
            <a:ext cx="15325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강성준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20368"/>
            <a:ext cx="153253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366F1"/>
                </a:solidFill>
                <a:latin typeface="맑은 고딕"/>
              </a:rPr>
              <a:t>데이터 수집
Feature ·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97024"/>
            <a:ext cx="153253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전처리 · ML 모델링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2886" y="926592"/>
            <a:ext cx="1623974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62886" y="926592"/>
            <a:ext cx="1623974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8606" y="1036320"/>
            <a:ext cx="15325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김도훈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8606" y="1420368"/>
            <a:ext cx="153253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366F1"/>
                </a:solidFill>
                <a:latin typeface="맑은 고딕"/>
              </a:rPr>
              <a:t>데이터 수집
Feature ·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8606" y="2097024"/>
            <a:ext cx="153253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Feature Engineering
ML 모델링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0012" y="926592"/>
            <a:ext cx="1623974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0012" y="926592"/>
            <a:ext cx="1623974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5732" y="1036320"/>
            <a:ext cx="15325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천성배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5732" y="1420368"/>
            <a:ext cx="153253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366F1"/>
                </a:solidFill>
                <a:latin typeface="맑은 고딕"/>
              </a:rPr>
              <a:t>데이터 수집
EDA ·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5732" y="2097024"/>
            <a:ext cx="153253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데이터 분석 · EDA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57139" y="926592"/>
            <a:ext cx="1623974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57139" y="926592"/>
            <a:ext cx="1623974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2859" y="1036320"/>
            <a:ext cx="15325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서해연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2859" y="1420368"/>
            <a:ext cx="153253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366F1"/>
                </a:solidFill>
                <a:latin typeface="맑은 고딕"/>
              </a:rPr>
              <a:t>데이터 수집 · ERD
DL · 백엔드 · 발표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2859" y="2097024"/>
            <a:ext cx="153253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딥러닝 · 백엔드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4265" y="926592"/>
            <a:ext cx="1623974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54265" y="926592"/>
            <a:ext cx="1623974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99985" y="1036320"/>
            <a:ext cx="15325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정주애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9985" y="1420368"/>
            <a:ext cx="153253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366F1"/>
                </a:solidFill>
                <a:latin typeface="맑은 고딕"/>
              </a:rPr>
              <a:t>PM · 데이터 수집
프론트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9985" y="2097024"/>
            <a:ext cx="153253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프론트(Streamlit) · PPT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02. 팀 소개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7607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52272"/>
            <a:ext cx="84124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16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맑은 고딕"/>
              </a:rPr>
              <a:t>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707136"/>
            <a:ext cx="2286000" cy="27432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345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광고주  ·  최적 채널 선정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707136"/>
            <a:ext cx="2286000" cy="27432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7345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광고 에이전시  ·  ROI 기반 캠페인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707136"/>
            <a:ext cx="2286000" cy="27432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7345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MCN  ·  크리에이터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091184"/>
            <a:ext cx="8229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3655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366F1"/>
                </a:solidFill>
                <a:latin typeface="맑은 고딕"/>
              </a:rPr>
              <a:t>배경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1091184"/>
            <a:ext cx="7589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114604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맑은 고딕"/>
              </a:rPr>
              <a:t>01  '진성 인게이지먼트(실질 참여율)'가 광고 단가의 핵심 지표로 부상 — '숫자 거품' 시대 종료
02  광고 구간 이탈 방지의 핵심 = 크리에이터와 시청자 간의 심리적 유대감
03  구독자 10~100만 '허리 계층' 채널의 성장 정체 및 슬럼프 해결 필요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14728"/>
            <a:ext cx="82296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17017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F4444"/>
                </a:solidFill>
                <a:latin typeface="맑은 고딕"/>
              </a:rPr>
              <a:t>문제
정의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2014728"/>
            <a:ext cx="7589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078736"/>
            <a:ext cx="7406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맑은 고딕"/>
              </a:rPr>
              <a:t>광고주:  매크로 댓글·친목질 등 전환력 낮은 채널을 걸러낼 정량적 지표 부족
에이전시/MCN:  채널 몰락·파편화를 사전 감지 불가 — 조회수·시청시간 중심의 사후적 지표 한계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01112"/>
            <a:ext cx="416052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92552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4338CA"/>
                </a:solidFill>
                <a:latin typeface="맑은 고딕"/>
              </a:rPr>
              <a:t>프로젝트 목표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66872"/>
            <a:ext cx="39776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· 유튜브 채널 대규모 소셜 네트워크 데이터 구축
· 상호작용 집중도 및 크리에이터 참여도 정량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801112"/>
            <a:ext cx="416052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2892552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0B981"/>
                </a:solidFill>
                <a:latin typeface="맑은 고딕"/>
              </a:rPr>
              <a:t>결과물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166872"/>
            <a:ext cx="39776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[광고주용]  최적 협업 대상 추천 매트릭스
[MCN용]  유튜버 이탈 위험도 예측 스코어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03. 프로젝트 개요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기대 효과 &amp; 한계점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데이터 기반 의사결정이 만드는 변화, 그리고 보완이 필요한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26592"/>
            <a:ext cx="822960" cy="7132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289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맑은 고딕"/>
              </a:rPr>
              <a:t>기대
효과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926592"/>
            <a:ext cx="7589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008888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광고주:  진성 채널 선별을 통한 마케팅 ROI 극대화 및 광고 단가 최적화
에이전시/MCN:  데이터 기반의 선제적 리스크(데드존) 알람 및 장기적 수익 모델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4688"/>
            <a:ext cx="822960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06168"/>
            <a:ext cx="804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F4444"/>
                </a:solidFill>
                <a:latin typeface="맑은 고딕"/>
              </a:rPr>
              <a:t>한계점 &amp;
보완 과제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1694688"/>
            <a:ext cx="75895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58696"/>
            <a:ext cx="7406640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맑은 고딕"/>
              </a:rPr>
              <a:t>[데이터 신뢰성]  댓글 샘플링(최신 100개) 기반으로 편향성 발생 가능
[포맷 차이]  숏폼(휘발성)과 롱폼(깊이) 간 성격 차이로 인한 해석 왜곡
[정성적 맥락]  단순 상호작용 빈도와 악플(부정 인게이지먼트) 구분을 위한 감성 분석 필터링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04. 기대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WBS · 작업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7607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37360" y="652272"/>
          <a:ext cx="5669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날짜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작업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5/15 (목)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주제 선정 &amp; 배경 조사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5/16~17 (토·일)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데이터 수집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5/18 (월)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데이터 합치기 + 전처리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5/18~19 (월·화)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데이터 분석 EDA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5/18~19 (월·화)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Feature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5/20~21 (수·목)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머신러닝 &amp; 딥러닝 ★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5/21 (목)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프론트 + 백엔드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5/22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발표 정리 &amp; 시연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05. WBS · 작업 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핵심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4가지 기능으로 광고주 의사결정을 지원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26592"/>
            <a:ext cx="2048256" cy="155448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1803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① 채널 위험도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92352"/>
            <a:ext cx="186537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채널 URL/ID 입력 → 사전 수집 CSV 조회
→ 0~100% 위험도 + A/B/C 등급 출력
처리 시간 5초 이내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926592"/>
            <a:ext cx="2048256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101803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② 위험 신호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292352"/>
            <a:ext cx="186537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6가지 위험 신호를 통합:
이탈 · 정체 · 변동성 · 규칙성 · 민감 키워드 · 활성 시청자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8576" y="926592"/>
            <a:ext cx="2048256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101803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③ 광고주 추천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1292352"/>
            <a:ext cx="186537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· 장기 협업 (A등급, 안정적 업로드)
· 단기 광고 (C등급 중 회복 신호)
· 카테고리별 추천 (게임/음악/요리…)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9984" y="926592"/>
            <a:ext cx="2048256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424" y="101803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④ SHAP 설명 가능성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1292352"/>
            <a:ext cx="186537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각 채널의 위험 원인 TOP 3를 SHAP 값으로 시각화 — 광고주가 의사결정 근거를 직접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590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맑은 고딕"/>
              </a:rPr>
              <a:t>통합 위험도 구조 (가중 합산)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83408"/>
            <a:ext cx="2755392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83408"/>
            <a:ext cx="275539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74848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EF4444"/>
                </a:solidFill>
                <a:latin typeface="맑은 고딕"/>
              </a:rPr>
              <a:t>평판 위험도  33%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49168"/>
            <a:ext cx="2572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민감 키워드 점수 · (댓글 감성 — 향후)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94304" y="2883408"/>
            <a:ext cx="2755392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94304" y="2883408"/>
            <a:ext cx="275539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85744" y="2974848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59E0B"/>
                </a:solidFill>
                <a:latin typeface="맑은 고딕"/>
              </a:rPr>
              <a:t>트래픽 위험도  33%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5744" y="3249168"/>
            <a:ext cx="2572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이탈 · 정체 · 변동성 · 규칙성 (각 25%)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22848" y="2883408"/>
            <a:ext cx="2755392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22848" y="2883408"/>
            <a:ext cx="275539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14288" y="2974848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0B981"/>
                </a:solidFill>
                <a:latin typeface="맑은 고딕"/>
              </a:rPr>
              <a:t>팬덤 위험도  33%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3249168"/>
            <a:ext cx="2572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활성 시청자 비율 · (시청 유지율 — 향후)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08. 핵심 기능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데이터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수집 → 정제 → 피처 → 모델 → 위험도 통합 (End-to-End)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26592"/>
            <a:ext cx="189738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1456"/>
            <a:ext cx="18973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  <a:latin typeface="맑은 고딕"/>
              </a:rPr>
              <a:t>9,427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8928"/>
            <a:ext cx="18973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youtube_channels.csv
(youtube-rank 크롤링)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4852" y="1219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맑은 고딕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7460" y="926592"/>
            <a:ext cx="189738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7460" y="981456"/>
            <a:ext cx="18973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  <a:latin typeface="맑은 고딕"/>
              </a:rPr>
              <a:t>8,193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7460" y="1328928"/>
            <a:ext cx="18973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cleaned
(중복·결측 제거)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219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926592"/>
            <a:ext cx="1897380" cy="82296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981456"/>
            <a:ext cx="18973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  <a:latin typeface="맑은 고딕"/>
              </a:rPr>
              <a:t>8,084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328928"/>
            <a:ext cx="18973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총 수집 채널
(API 메타 + 영상)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252" y="1219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맑은 고딕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80860" y="926592"/>
            <a:ext cx="189738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0860" y="981456"/>
            <a:ext cx="18973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  <a:latin typeface="맑은 고딕"/>
              </a:rPr>
              <a:t>3,337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0860" y="1328928"/>
            <a:ext cx="18973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final
(개인 크리에이터 필터링)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14144"/>
            <a:ext cx="189738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969008"/>
            <a:ext cx="18973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  <a:latin typeface="맑은 고딕"/>
              </a:rPr>
              <a:t>166K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316480"/>
            <a:ext cx="18973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videos
(채널당 50개)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4852" y="22067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맑은 고딕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7460" y="1914144"/>
            <a:ext cx="1897380" cy="82296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37460" y="1969008"/>
            <a:ext cx="18973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  <a:latin typeface="맑은 고딕"/>
              </a:rPr>
              <a:t>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7460" y="2316480"/>
            <a:ext cx="18973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Feature Matrix
(그룹 0/A/B/C)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22067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맑은 고딕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1914144"/>
            <a:ext cx="1897380" cy="822960"/>
          </a:xfrm>
          <a:prstGeom prst="rect">
            <a:avLst/>
          </a:prstGeom>
          <a:solidFill>
            <a:srgbClr val="FFF7ED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1969008"/>
            <a:ext cx="18973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  <a:latin typeface="맑은 고딕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316480"/>
            <a:ext cx="18973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위험 신호 모델
(ML + 룰 + K-Means)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8252" y="22067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맑은 고딕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80860" y="1914144"/>
            <a:ext cx="1897380" cy="822960"/>
          </a:xfrm>
          <a:prstGeom prst="rect">
            <a:avLst/>
          </a:prstGeom>
          <a:solidFill>
            <a:srgbClr val="D1FAE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0860" y="1969008"/>
            <a:ext cx="18973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  <a:latin typeface="맑은 고딕"/>
              </a:rPr>
              <a:t>A/B/C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0860" y="2316480"/>
            <a:ext cx="18973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맑은 고딕"/>
              </a:rPr>
              <a:t>risk_ranking.csv
(최종 등급)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01696"/>
            <a:ext cx="2755392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993136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1️⃣ 수집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267456"/>
            <a:ext cx="2572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youtube-rank 웹 크롤링 → 채널 시드 확보 → YouTube Data API v3로 메타·영상 정보 수집 (다중 API 키 로테이션)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94304" y="2901696"/>
            <a:ext cx="2755392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85744" y="2993136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2️⃣ 전처리·피처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5744" y="3267456"/>
            <a:ext cx="2572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영상 50개 미만 채널 제거 → wide/long 분리 → 최신 1개 영상 제외(조회수 미성숙 보정) → 22개 피처 계산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22848" y="2901696"/>
            <a:ext cx="2755392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14288" y="2993136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3️⃣ 모델·통합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14288" y="3267456"/>
            <a:ext cx="2572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6개 점수 산출 → 가중 합산 (평판 33% + 트래픽 33% + 팬덤 33%) → ABCDF 등급화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12. 데이터 흐름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사용한 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7607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52272"/>
            <a:ext cx="2048256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4371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🎨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18032"/>
            <a:ext cx="186537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Streamlit ≥1.29
Plotly · Matplotlib
Seaborn
qrcode (QR 공유)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7168" y="652272"/>
            <a:ext cx="2048256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74371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📊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1018032"/>
            <a:ext cx="186537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Pandas ≥2.0
NumPy ≥1.24
PyYAML · python-dotenv
PyMySQL · SQLAlchemy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08576" y="652272"/>
            <a:ext cx="2048256" cy="182880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74371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🧠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1018032"/>
            <a:ext cx="186537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scikit-learn ≥1.3
XGBoost ≥2.0
LightGBM ≥4.1
imbalanced-learn (SMOTE)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9984" y="652272"/>
            <a:ext cx="2048256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1424" y="74371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🤖 DL / 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018032"/>
            <a:ext cx="186537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PyTorch ≥2.0
transformers ≥4.35
KoBERT (감성 분석)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72512"/>
            <a:ext cx="2048256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6395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🕷 수집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38272"/>
            <a:ext cx="186537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requests · BeautifulSoup4
Selenium ≥4.15
google-api-python-client
(YouTube Data API v3)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7168" y="2572512"/>
            <a:ext cx="2048256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8608" y="266395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⚙️ 개발 환경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2938272"/>
            <a:ext cx="186537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Python ≥3.9
uv (패키지 관리)
Git + GitHub
MySQL (선택)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13. 기술 스택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사용한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YouTube 한국 채널 — 크롤링 + Data API v3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26592"/>
            <a:ext cx="2048256" cy="96012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99744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맑은 고딕"/>
              </a:rPr>
              <a:t>총 수집 채널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28344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366F1"/>
                </a:solidFill>
                <a:latin typeface="맑은 고딕"/>
              </a:rPr>
              <a:t>8,084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39824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개 (YouTube API 메타·영상 수집 완료)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168" y="926592"/>
            <a:ext cx="2048256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999744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맑은 고딕"/>
              </a:rPr>
              <a:t>최종 분석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1228344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맑은 고딕"/>
              </a:rPr>
              <a:t>3,337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639824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개 (개인 크리에이터 필터링)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926592"/>
            <a:ext cx="2048256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999744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맑은 고딕"/>
              </a:rPr>
              <a:t>영상 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1228344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맑은 고딕"/>
              </a:rPr>
              <a:t>166,450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1639824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개 (최신 1개 제외)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9984" y="926592"/>
            <a:ext cx="2048256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999744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맑은 고딕"/>
              </a:rPr>
              <a:t>사용 피처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1228344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맑은 고딕"/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1639824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개 (그룹 0/A/B/C)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5760" y="1996440"/>
          <a:ext cx="4206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크기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행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youtube_channels.csv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1.8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9,427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…_cleaned.csv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1.7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8,193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…_filtered.csv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732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3,353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dataset_wide.csv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1.6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8,084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filtered_dataset_wide.csv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694 KB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3,337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filtered_dataset_long.csv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45 MB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166,450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risk_ranking.csv [최종]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381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3,337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4626864" y="1996440"/>
            <a:ext cx="4151376" cy="48691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4" y="2087880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그룹 0 · 채널 기본 정보 (4)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2362200"/>
            <a:ext cx="3968496" cy="48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subscriber_count · view_count · total_video_count · channel_age_days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26864" y="2565654"/>
            <a:ext cx="4151376" cy="48691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2657094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그룹 A · 활동성 (7)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2931414"/>
            <a:ext cx="3968496" cy="48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avg/std_upload_interval · max_gap_days · hiatus_count_30d · upload_freq_change_rate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26864" y="3134868"/>
            <a:ext cx="4151376" cy="48691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3226308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그룹 B · 성과 (5)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8304" y="3500628"/>
            <a:ext cx="3968496" cy="48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avg/std_view_count · avg_like · avg_comment · avg_engagement_rate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26864" y="3704082"/>
            <a:ext cx="4151376" cy="48691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3795522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그룹 C · Shorts (3) + D · 시계열 파생 (4)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8304" y="4069842"/>
            <a:ext cx="3968496" cy="48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shorts_ratio · avg_shorts/normal_view · log_slope · recent_3m · trend_accel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14. 사용한 데이터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EDA · 탐색적 데이터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notebooks/01_data_collection/10_data_EDA.ipynb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26592"/>
            <a:ext cx="2048256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99744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맑은 고딕"/>
              </a:rPr>
              <a:t>전체 채널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28344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맑은 고딕"/>
              </a:rPr>
              <a:t>8,084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39824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168" y="926592"/>
            <a:ext cx="2048256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999744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맑은 고딕"/>
              </a:rPr>
              <a:t>이탈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1228344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F4444"/>
                </a:solidFill>
                <a:latin typeface="맑은 고딕"/>
              </a:rPr>
              <a:t>33.5%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639824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180일+ 미업로드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926592"/>
            <a:ext cx="2048256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999744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맑은 고딕"/>
              </a:rPr>
              <a:t>활성 비율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1228344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B981"/>
                </a:solidFill>
                <a:latin typeface="맑은 고딕"/>
              </a:rPr>
              <a:t>66.5%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1639824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정상 활동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9984" y="926592"/>
            <a:ext cx="2048256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999744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맑은 고딕"/>
              </a:rPr>
              <a:t>정체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1228344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맑은 고딕"/>
              </a:rPr>
              <a:t>51.4%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1639824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조회수 감소 추세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840992"/>
            <a:ext cx="4151376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914144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맑은 고딕"/>
              </a:rPr>
              <a:t>핵심 발견 (Key Findings)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188464"/>
            <a:ext cx="39684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맑은 고딕"/>
              </a:rPr>
              <a:t>• 이탈 라벨 분포: 이탈 33.5% / 활성 66.5% — 클래스 불균형 → class_weight + SMOTE
• 조회수 분포: 로그 정규 분포에 가까움, 히트작 의존형 채널 다수
• 업로드 주기: 평균 7~14일, 분산이 매우 큼 (시즌제·휴재 영향)
• Shorts 비율: 채널별 편차 큼(0~100%) — 일반 영상과 알고리즘이 다름
• 활성 시청자 군집: K-Means K=4에서 슈퍼팬/일반/소극적/유령 4개 군집이 명확히 분리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15511"/>
            <a:ext cx="3968496" cy="594360"/>
          </a:xfrm>
          <a:prstGeom prst="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779519"/>
            <a:ext cx="3749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이상치 처리  upload_freq_change_rate → clip(-5, 5)
avg_engagement_rate → clip(0, 1)
분모 0 채널에서 5e+10 같은 극단값 발생 → 모델 학습 전 클리핑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6864" y="1840992"/>
            <a:ext cx="4151376" cy="8046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8304" y="2133600"/>
            <a:ext cx="3968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맑은 고딕"/>
              </a:rPr>
              <a:t>📊 카테고리 분포 (assets/eda/category_dist.png)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26864" y="2718816"/>
            <a:ext cx="4151376" cy="8046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3011424"/>
            <a:ext cx="3968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맑은 고딕"/>
              </a:rPr>
              <a:t>📈 이탈 vs 활성 라벨 분포 (churn_label.png)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26864" y="3596640"/>
            <a:ext cx="4151376" cy="8046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8304" y="3889248"/>
            <a:ext cx="3968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맑은 고딕"/>
              </a:rPr>
              <a:t>🔥 피처 상관관계 히트맵 (corr_heatmap.png)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15. EDA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데이터 전처리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6단계 파이프라인 — 원본 9,427 → 분석 대상 3,337 채널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26592"/>
          <a:ext cx="4160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2651760"/>
                <a:gridCol w="1234440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외부 크롤링 정제 (중복·결측 제거)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9,427 → 8,193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영상 50개 미만 채널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8,193 → 7,218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개인 크리에이터 필터링 (조직 채널 제외)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7,218 → 3,353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YouTube API 메타 수집 (channels + videos)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3,353 → 3,337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wide / long 데이터셋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166,450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최신 1개 영상 제외 (조회수 미성숙 보정) ★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166,450 행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626864" y="926592"/>
            <a:ext cx="4151376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8304" y="1018032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결측치 (Missing)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8304" y="1292352"/>
            <a:ext cx="39684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· country — null 다수 + 범주 적음 → 모델 제외
· comments 비공개 채널 → feature를 missing 허용으로 처리
· Shorts 없는 채널 → avg_shorts_view = 0 채움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2005584"/>
            <a:ext cx="4151376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097024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이상치 (Outlier)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371344"/>
            <a:ext cx="3968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upload_freq_change_rate → clip(-5, +5)   // 이전 3개월 업로드 0 → 분모 0 → 5e+10 발생
avg_engagement_rate → clip(0, 1)          // 조회수 극소 영상 → 분모 0 → 6e+07 발생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2993135"/>
            <a:ext cx="4151376" cy="475488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3057143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데이터 리크 방지  days_since_last_upload는 이탈 라벨 생성에 직접 사용되므로 모델 학습 시 피처에서 제외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16. 데이터 전처리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ERD 구조도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7607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KN_2nd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2272"/>
            <a:ext cx="841248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12. ERD 구조도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모델 결과 (학습 결과서)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3개 ML 모델 × 3개 위험 신호 + 3개 룰/군집 점수 — 5-fold 교차검증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26592"/>
          <a:ext cx="72237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777240"/>
                <a:gridCol w="685800"/>
                <a:gridCol w="731520"/>
                <a:gridCol w="822960"/>
                <a:gridCol w="731520"/>
              </a:tblGrid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위험 신호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AUC-ROC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Recall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Precision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이탈 (2,707/5,376)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XGBoost (Calibrated) ★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0.000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정체 (1,712/1,621)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XGBoost (Calibrated) ★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0.999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0.999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0.999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0.001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변동성 (1,327/2,006)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XGBoost (Calibrated) ★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0.997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0.997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0.998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0.002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3322320"/>
            <a:ext cx="2755392" cy="69494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13760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📏 규칙성 점수 (룰 기반)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88080"/>
            <a:ext cx="2572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안정 56.1% · 주의 43.8% · 불안정 0%
CV(50%) + 이상치(30%) + 최대 공백(20%)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4304" y="3322320"/>
            <a:ext cx="2755392" cy="69494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5744" y="3413760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🚨 민감 키워드 (62개)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5744" y="3688080"/>
            <a:ext cx="2572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안전 80.6% · 중위험 14.5% · 고위험 4.9%
정치/혐오/자극/성인 4개 카테고리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22848" y="3322320"/>
            <a:ext cx="2755392" cy="69494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4288" y="3413760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👥 활성 시청자 (K-Means K=4)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4288" y="3688080"/>
            <a:ext cx="2572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슈퍼팬 14.6% · 일반팬 63.6% · 소극적 19.6% · 유령 2.1%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90416"/>
            <a:ext cx="841248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154424"/>
            <a:ext cx="8193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KPI 달성  모든 ML 모델이 PRD KPI(Recall ≥ 80%, F1 ≥ 0.7, AUC ≥ 0.85)를 크게 상회 — 단, AUC 1.000은 데이터 자체의 명확한 라벨 분리(180일 기준)에서 비롯된 것으로 과적합 위험 존재.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17. 모델 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모델 선정 · RF / LGBM / XGB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테스트 성능과 모델별 강점을 기준으로 LightGBM 중심 Weighted Soft Voting 전략 선택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26592"/>
          <a:ext cx="54406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"/>
                <a:gridCol w="640080"/>
                <a:gridCol w="640080"/>
                <a:gridCol w="594360"/>
                <a:gridCol w="548640"/>
                <a:gridCol w="59436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Threshold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Accuracy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Precision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Recall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ROC-AUC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LightGBM (candidate 2) ★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0.52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0.837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0.679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0.410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0.511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0.834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XGBoost (candidate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Random Forest (candidate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0.839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2179320"/>
            <a:ext cx="1335024" cy="731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79320"/>
            <a:ext cx="1335024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70760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Best Targeting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5080"/>
            <a:ext cx="1152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LightGBM
Accuracy · Recall · F1 1위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3936" y="2179320"/>
            <a:ext cx="1335024" cy="731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3936" y="2179320"/>
            <a:ext cx="133502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5376" y="2270760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59E0B"/>
                </a:solidFill>
                <a:latin typeface="맑은 고딕"/>
              </a:rP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2545080"/>
            <a:ext cx="1152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XGBoost
SHAP 설명에 적합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2179320"/>
            <a:ext cx="1335024" cy="731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82112" y="2179320"/>
            <a:ext cx="1335024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3552" y="2270760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0B981"/>
                </a:solidFill>
                <a:latin typeface="맑은 고딕"/>
              </a:rPr>
              <a:t>Stability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2545080"/>
            <a:ext cx="1152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Random Forest
ROC-AUC · Precision 강점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83992"/>
            <a:ext cx="4151376" cy="502920"/>
          </a:xfrm>
          <a:prstGeom prst="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048000"/>
            <a:ext cx="3931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KPI 점검  현재 단일 모델 테스트 기준 Recall 최대 41.0%, F1 최대 0.511, ROC-AUC 최대 0.839로 PRD 목표(Recall 80%, F1 0.7, AUC 0.85)에는 미달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926592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맑은 고딕"/>
              </a:rPr>
              <a:t>선정 전략 · Weighted Soft Voting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6864" y="1200912"/>
            <a:ext cx="4151376" cy="347472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126492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가중치:  LGBM 0.50 + XGB 0.30 + RF 0.20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26864" y="1621536"/>
            <a:ext cx="4151376" cy="944880"/>
          </a:xfrm>
          <a:prstGeom prst="rect">
            <a:avLst/>
          </a:prstGeom>
          <a:solidFill>
            <a:srgbClr val="F8FAFC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1712976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① LightGBM 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8304" y="1987296"/>
            <a:ext cx="3968496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세 모델 중 Accuracy(83.7%), Recall(41.0%), F1(0.511)이 가장 높아 이탈 후보를 찾는 핵심 모델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6864" y="2657856"/>
            <a:ext cx="4151376" cy="944880"/>
          </a:xfrm>
          <a:prstGeom prst="rect">
            <a:avLst/>
          </a:prstGeom>
          <a:solidFill>
            <a:srgbClr val="F8FAFC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8304" y="2749296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59E0B"/>
                </a:solidFill>
                <a:latin typeface="맑은 고딕"/>
              </a:rPr>
              <a:t>② XGBoost 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304" y="3023616"/>
            <a:ext cx="3968496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Accuracy 83.1%, ROC-AUC 0.837. SHAP 기반 원인 설명에 강해 LightGBM 판단을 해석 가능하게 보완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26864" y="3694176"/>
            <a:ext cx="4151376" cy="944880"/>
          </a:xfrm>
          <a:prstGeom prst="rect">
            <a:avLst/>
          </a:prstGeom>
          <a:solidFill>
            <a:srgbClr val="F8FAFC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3785616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0B981"/>
                </a:solidFill>
                <a:latin typeface="맑은 고딕"/>
              </a:rPr>
              <a:t>③ Random Forest 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8304" y="4059936"/>
            <a:ext cx="3968496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Precision(0.736)과 ROC-AUC(0.839)가 가장 높아 부스팅 모델의 노이즈 민감도를 완충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26864" y="4255008"/>
            <a:ext cx="4151376" cy="50292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4319016"/>
            <a:ext cx="3931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결론  단일 모델 채택 시 LightGBM이 최우선 후보이며, 서비스 적용 전에는 가중 앙상블 성능 재측정과 threshold 재튜닝이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18. 모델 선정 이유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광고주 관점 핵심 인사이트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10_data_EDA.ipynb 필수 차트 04 · 08 · 11 · 13 기반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26592"/>
            <a:ext cx="2048256" cy="3246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26592"/>
            <a:ext cx="2048256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54024"/>
            <a:ext cx="20482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219200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채널 포맷별 참여율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530096"/>
            <a:ext cx="1938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맑은 고딕"/>
              </a:rPr>
              <a:t>숏폼·롱폼·혼합형을 같은 기준으로 비교해 광고 포맷 적합도를 판단.</a:t>
            </a:r>
          </a:p>
        </p:txBody>
      </p:sp>
      <p:pic>
        <p:nvPicPr>
          <p:cNvPr id="11" name="Picture 10" descr="insight-04-format-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969007"/>
            <a:ext cx="1975104" cy="15544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3605784"/>
            <a:ext cx="2048256" cy="566928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642360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맑은 고딕"/>
              </a:rPr>
              <a:t>광고 집행 전, 조회수 규모보다 포맷별 참여율 분포를 먼저 확인해야 함.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926592"/>
            <a:ext cx="2048256" cy="3246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7168" y="926592"/>
            <a:ext cx="2048256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954024"/>
            <a:ext cx="20482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366F1"/>
                </a:solidFill>
                <a:latin typeface="맑은 고딕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1219200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쇼츠 성과의 롱폼 전이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1530096"/>
            <a:ext cx="1938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맑은 고딕"/>
              </a:rPr>
              <a:t>쇼츠 조회수가 긴 영상 성과로 이어지는지 로그축 산점도로 검증.</a:t>
            </a:r>
          </a:p>
        </p:txBody>
      </p:sp>
      <p:pic>
        <p:nvPicPr>
          <p:cNvPr id="19" name="Picture 18" descr="insight-08-shorts-sy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1969007"/>
            <a:ext cx="1975104" cy="15544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487168" y="3605784"/>
            <a:ext cx="2048256" cy="566928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32888" y="3642360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맑은 고딕"/>
              </a:rPr>
              <a:t>쇼츠만 높은 채널은 단기 노출형, 롱폼도 강한 채널은 브랜드 설득형에 적합.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576" y="926592"/>
            <a:ext cx="2048256" cy="3246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08576" y="926592"/>
            <a:ext cx="2048256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6" y="954024"/>
            <a:ext cx="20482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366F1"/>
                </a:solidFill>
                <a:latin typeface="맑은 고딕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1219200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영상 길이별 Sweet Spot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1530096"/>
            <a:ext cx="1938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맑은 고딕"/>
              </a:rPr>
              <a:t>영상 길이 구간별 평균 조회수와 관여도를 나눠 캠페인 메시지 밀도를 조정.</a:t>
            </a:r>
          </a:p>
        </p:txBody>
      </p:sp>
      <p:pic>
        <p:nvPicPr>
          <p:cNvPr id="27" name="Picture 26" descr="insight-11-duration-sweetsp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969007"/>
            <a:ext cx="1975104" cy="15544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608576" y="3605784"/>
            <a:ext cx="2048256" cy="566928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54296" y="3642360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맑은 고딕"/>
              </a:rPr>
              <a:t>짧은 영상은 도달, 5~20분 구간은 소통과 설득 성과를 함께 봐야 함.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9984" y="926592"/>
            <a:ext cx="2048256" cy="3246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29984" y="926592"/>
            <a:ext cx="2048256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9984" y="954024"/>
            <a:ext cx="20482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366F1"/>
                </a:solidFill>
                <a:latin typeface="맑은 고딕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1219200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업로드 주기 × 방치 기간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1530096"/>
            <a:ext cx="1938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맑은 고딕"/>
              </a:rPr>
              <a:t>평소 성실도와 최근 공백에 따른 초기 조회수 부스팅 편차를 매트릭스로 확인.</a:t>
            </a:r>
          </a:p>
        </p:txBody>
      </p:sp>
      <p:pic>
        <p:nvPicPr>
          <p:cNvPr id="35" name="Picture 34" descr="insight-13-upload-boos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969007"/>
            <a:ext cx="1975104" cy="155448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729984" y="3605784"/>
            <a:ext cx="2048256" cy="566928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75704" y="3642360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맑은 고딕"/>
              </a:rPr>
              <a:t>엠바고·런칭 캠페인은 최근 업로드 공백과 주기 리스크를 계약 전에 점검.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264152"/>
            <a:ext cx="841248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4328160"/>
            <a:ext cx="8193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광고주 의사결정 기준  구독자 수만 보지 말고 포맷 적합도, 롱폼 전이력, 영상 길이별 관여도, 최근 업로드 성실도를 함께 확인해야 실제 광고 안정성을 판단할 수 있습니다.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15. 인사이트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화면 시연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7607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0" y="1018032"/>
            <a:ext cx="292608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1018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6667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맑은 고딕"/>
              </a:rPr>
              <a:t>지금부터 실제 화면을 보여드리겠습니다.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43912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맑은 고딕"/>
              </a:rPr>
              <a:t>대시보드, 채널 조회, 추천 화면 흐름을 라이브로 시연합니다.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938272"/>
            <a:ext cx="4206240" cy="41148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3002280"/>
            <a:ext cx="39867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실행  uv run streamlit run app/main.py  →  http://localhost:8501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17. 화면 시연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맑은 고딕"/>
              </a:rPr>
              <a:t>🔴 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5B4FC"/>
                </a:solidFill>
                <a:latin typeface="맑은 고딕"/>
              </a:rPr>
              <a:t>Streamlit 앱 전체화면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17CD0"/>
                </a:solidFill>
                <a:latin typeface="맑은 고딕"/>
              </a:rPr>
              <a:t>http://localhost:8501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프로젝트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확장 가능성 · 주요 이슈 및 해결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26592"/>
            <a:ext cx="841248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990600"/>
            <a:ext cx="8193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결과 요약  광고주가 채널의 현재 인기뿐 아니라 활동 지속 가능성을 함께 판단할 수 있는 분석 흐름을 MVP 형태로 구현했습니다.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29512"/>
            <a:ext cx="4151376" cy="288036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20952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맑은 고딕"/>
              </a:rPr>
              <a:t>🚀 확장 가능성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95272"/>
            <a:ext cx="3968496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· 실시간 YouTube API 분석 (현재는 스냅샷 기반)
· 시계열 위험도 추적 대시보드
· TikTok / Instagram 멀티 플랫폼 확장
· 광고 성과 데이터 연동을 통한 ROI 검증
· 뉴스/SNS 외부 데이터 결합으로 논란 탐지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26864.0" y="1429512"/>
          <a:ext cx="4069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33172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이슈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API 쿼터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다중 키 로테이션 + 로컬 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클래스 불균형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SMOTE + class_weight + threshold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이상값(분모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clip 처리 (-5~+5, 0~1)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시즌제 채널 오분류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카테고리별 별도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댓글 비공개 채널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맑은 고딕"/>
                        </a:rPr>
                        <a:t>feature missing 허용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19. 프로젝트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활용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3개 핵심 대상 + 4가지 확장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6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맑은 고딕"/>
              </a:rPr>
              <a:t>즉시 활용 (현재 MVP로 가능)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00912"/>
            <a:ext cx="2755392" cy="123444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2352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🏢 광고주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66672"/>
            <a:ext cx="25725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장기 계약 전 채널 위험도 사전 점검 → 계약 후 활동 중단 리스크 차단
예: A등급 채널 우선 협업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4304" y="1200912"/>
            <a:ext cx="2755392" cy="123444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5744" y="1292352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🎯 광고 에이전시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5744" y="1566672"/>
            <a:ext cx="25725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캠페인 채널 선정 시 데이터 기반 ROI 의사결정 → 정성 평가 의존도 ↓
예: 카테고리별 추천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22848" y="1200912"/>
            <a:ext cx="2755392" cy="123444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4288" y="1292352"/>
            <a:ext cx="2572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366F1"/>
                </a:solidFill>
                <a:latin typeface="맑은 고딕"/>
              </a:rPr>
              <a:t>📺 MCN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4288" y="1566672"/>
            <a:ext cx="25725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소속 크리에이터 활동 모니터링 대시보드 → 위험 신호 조기 발견 + 케어
예: B → C 등급 하락 시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57251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맑은 고딕"/>
              </a:rPr>
              <a:t>향후 확장 방향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46832"/>
            <a:ext cx="2048256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3827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🔄 실시간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12592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스냅샷 → 6h/12h/일 단위 정기 크롤링 + 신규 채널 즉시 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7168" y="2846832"/>
            <a:ext cx="2048256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8608" y="293827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📈 시계열 추적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3212592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동일 채널의 위험도 변화를 시간 축으로 시각화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8576" y="2846832"/>
            <a:ext cx="2048256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293827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🌐 멀티 플랫폼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3212592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TikTok · Instagram 확장 → 통합 인플루언서 평가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4" y="2846832"/>
            <a:ext cx="2048256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1424" y="293827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📰 외부 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1424" y="3212592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뉴스/SNS 논란 탐지 + 실제 광고 성과 데이터 연동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61232"/>
            <a:ext cx="841248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825240"/>
            <a:ext cx="8193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비즈니스 모델 (가설)  광고주/에이전시 대상 SaaS 구독 (월 정액) + 채널 분석 리포트 단건 판매 + 추천 API 호출 기반 과금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20. 활용 가능성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한계점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현재 MVP 기준에서 남아 있는 제약과 향후 보완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26592"/>
            <a:ext cx="4151376" cy="2331720"/>
          </a:xfrm>
          <a:prstGeom prst="rect">
            <a:avLst/>
          </a:prstGeom>
          <a:solidFill>
            <a:srgbClr val="F8FAFC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26592"/>
            <a:ext cx="4151376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18032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EF4444"/>
                </a:solidFill>
                <a:latin typeface="맑은 고딕"/>
              </a:rPr>
              <a:t>⚠️ 데이터 · 모델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2352"/>
            <a:ext cx="3968496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· 스냅샷 의존성: 2026-05-17 이후 채널 변화는 반영되지 않음
· 신규 채널 분석 불가: 사전 수집 DB에 없는 채널은 즉시 분석할 수 없음
· 외부 이슈 미반영: 논란, 건강, 개인 사정 등 비정형 이탈 요인은 포착 어려움
· AUC 1.000의 함정: 180일 라벨 분리가 지나치게 명확해 실제 운영 기준 재검토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926592"/>
            <a:ext cx="4151376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1018032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🛠 서비스 · 검증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1292352"/>
            <a:ext cx="39684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· 한국어 중심: 다국어 채널 분석에는 추가 검증이 필요
· 광고 성과 검증 부재: 실제 ROI와 위험도 상관관계는 아직 입증되지 않음
· 실시간성 부족: 현재는 정적 배치 기반이라 변화 탐지가 지연될 수 있음
· 운영 확장 필요: API, 저장소, 배포 구조를 함께 키워야 서비스화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2828544"/>
            <a:ext cx="4151376" cy="41148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892552"/>
            <a:ext cx="39319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향후 과제  실시간 수집, 외부 이슈 반영, 광고 성과 연동까지 확장하면 의사결정 도구로서 완성도가 더 높아집니다.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20. 한계점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회고록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7607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52272"/>
            <a:ext cx="8412480" cy="64008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437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맑은 고딕"/>
              </a:rPr>
              <a:t>💬 팀 회고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180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이번 프로젝트는 데이터 수집, 모델링, 백엔드, 프론트까지 전 과정을 직접 연결해보며 협업 방식과 문제 해결 흐름을 함께 다져본 경험이었습니다.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65504"/>
            <a:ext cx="2048256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56944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강성준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1264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(한 줄 회고를 입력해주세요)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1365504"/>
            <a:ext cx="2048256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1456944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김도훈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731264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(한 줄 회고를 입력해주세요)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1365504"/>
            <a:ext cx="2048256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1456944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천성배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1731264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(한 줄 회고를 입력해주세요)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9984" y="1365504"/>
            <a:ext cx="2048256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1424" y="1456944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서해연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731264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(한 줄 회고를 입력해주세요)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53056"/>
            <a:ext cx="84124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444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맑은 고딕"/>
              </a:rPr>
              <a:t>정주애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1881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(한 줄 회고를 입력해주세요)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21. 회고록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1440"/>
            <a:ext cx="32004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91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57607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기술 문서 · 내부 산출물 · 시장 통계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8412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26592"/>
            <a:ext cx="4151376" cy="3520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99744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맑은 고딕"/>
              </a:rPr>
              <a:t>📚 기술 문서 &amp; 라이브러리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74064"/>
            <a:ext cx="39684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맑은 고딕"/>
              </a:rPr>
              <a:t>• YouTube Data API v3 — developers.google.com/youtube/v3
• scikit-learn — User Guide (Ensemble, Calibration)
• XGBoost — Documentation, Tianqi Chen et al.
• LightGBM — Microsoft Research
• SHAP — Lundberg &amp; Lee (2017), A Unified Approach to Interpreting Model Predictions
• KoBERT — SKTBrain, 한국어 사전학습 BERT
• Streamlit — docs.streamlit.io
• imbalanced-learn (SMOTE) — Chawla et al. (2002)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66872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맑은 고딕"/>
              </a:rPr>
              <a:t>📊 시장 통계 출처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50336"/>
            <a:ext cx="39684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맑은 고딕"/>
              </a:rPr>
              <a:t>• 국내 디지털 크리에이터 산업 매출 (2025): 약 5조 5천억 원
• 글로벌 인플루언서 마케팅 시장: 약 330억 달러
• 미국 크리에이터 광고 지출: 약 370억 달러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926592"/>
            <a:ext cx="4151376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999744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맑은 고딕"/>
              </a:rPr>
              <a:t>📁 내부 산출물 (프로젝트 문서)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1274064"/>
            <a:ext cx="396849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맑은 고딕"/>
              </a:rPr>
              <a:t>• docs/튜브어때_PRD.md — 전체 PRD (584줄)
• docs/02_modeling_정리.md — 모델 파이프라인 상세
• docs/csv_파일_정리.md — 데이터 흐름·파일 목록
• docs/db_erd.md — ERD 정의
• docs/feature_description.md — 피처 설계서
• docs/폴더구조.md — 프로젝트 구조
• notebooks/02_modeling/*.ipynb — 6개 모델 노트북
• notebooks/01_data_collection/10_data_EDA.ipynb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864" y="3742944"/>
            <a:ext cx="4151376" cy="59436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3806952"/>
            <a:ext cx="3931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맑은 고딕"/>
              </a:rPr>
              <a:t>GitHub: SKNETWORKS-FAMILY-AICAMP / SKN30-2nd-1Team
팀명: 너놀자 · 5인 · 2026.05.15 ~ 2026.05.22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22. 참고 자료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8646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SKN30 · 너놀자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0" cy="347472"/>
          </a:xfrm>
          <a:prstGeom prst="rect">
            <a:avLst/>
          </a:prstGeom>
          <a:solidFill>
            <a:srgbClr val="3B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5895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7D2FE"/>
                </a:solidFill>
                <a:latin typeface="맑은 고딕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34440"/>
            <a:ext cx="9144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맑은 고딕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46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  <a:latin typeface="맑은 고딕"/>
              </a:rPr>
              <a:t>감사합니다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023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5B4FC"/>
                </a:solidFill>
                <a:latin typeface="맑은 고딕"/>
              </a:rPr>
              <a:t>질문 주시면 이어서 설명드리겠습니다.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